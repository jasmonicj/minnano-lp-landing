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F5A623">
              <a:alpha val="10000"/>
            </a:srgbClr>
          </a:solidFill>
          <a:ln w="12700">
            <a:solidFill>
              <a:srgbClr val="F5A623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PITCH DECK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みんなのLP屋さん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LINEで一言送るだけで、LPがすぐ直る。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「気づいたら直ってます。」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3657600" cy="36576"/>
          </a:xfrm>
          <a:prstGeom prst="rect">
            <a:avLst/>
          </a:prstGeom>
          <a:solidFill>
            <a:srgbClr val="8C7060"/>
          </a:solidFill>
          <a:ln w="12700">
            <a:solidFill>
              <a:srgbClr val="8C70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資金調達用事業計画書　／　機密情報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課題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「ちょっと直したい」が、なぜこんなに大変なのか。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651760" cy="73152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制作会社への依頼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2697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メール→見積→承認→作業→確認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たった1行の修正に1週間以上かかる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55448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554480"/>
            <a:ext cx="2651760" cy="73152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7373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コストが高い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697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小さな修正でも最低¥5,000〜数万円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修正のたびに請求が来る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35040" y="155448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1554480"/>
            <a:ext cx="2651760" cy="73152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自分でやると崩れる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72200" y="269748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CMSの操作を覚えるのが大変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触ったらレイアウトが崩れた経験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個人事業主・スモールビジネスの約80%がLPを持ちながら、更新を放置している。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ソリューション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LINEで一言送るだけ。それだけ。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2103120"/>
          </a:xfrm>
          <a:prstGeom prst="rect">
            <a:avLst/>
          </a:prstGeom>
          <a:solidFill>
            <a:srgbClr val="1A0F0A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1920240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64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LINEで一言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「ここのテキスト変えて」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2514600"/>
            <a:ext cx="228600" cy="64008"/>
          </a:xfrm>
          <a:prstGeom prst="rect">
            <a:avLst/>
          </a:prstGeom>
          <a:solidFill>
            <a:srgbClr val="8C7060"/>
          </a:solidFill>
          <a:ln w="12700">
            <a:solidFill>
              <a:srgbClr val="8C7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554480"/>
            <a:ext cx="1920240" cy="2103120"/>
          </a:xfrm>
          <a:prstGeom prst="rect">
            <a:avLst/>
          </a:prstGeom>
          <a:solidFill>
            <a:srgbClr val="1A0F0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554480"/>
            <a:ext cx="19202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664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974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意図を読み取り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コードを自動修正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2514600"/>
            <a:ext cx="228600" cy="64008"/>
          </a:xfrm>
          <a:prstGeom prst="rect">
            <a:avLst/>
          </a:prstGeom>
          <a:solidFill>
            <a:srgbClr val="8C7060"/>
          </a:solidFill>
          <a:ln w="12700">
            <a:solidFill>
              <a:srgbClr val="8C7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554480"/>
            <a:ext cx="1920240" cy="2103120"/>
          </a:xfrm>
          <a:prstGeom prst="rect">
            <a:avLst/>
          </a:prstGeom>
          <a:solidFill>
            <a:srgbClr val="1A0F0A"/>
          </a:solidFill>
          <a:ln w="12700">
            <a:solidFill>
              <a:srgbClr val="E87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554480"/>
            <a:ext cx="1920240" cy="6400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664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自動コミット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自動デプロイ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2514600"/>
            <a:ext cx="228600" cy="64008"/>
          </a:xfrm>
          <a:prstGeom prst="rect">
            <a:avLst/>
          </a:prstGeom>
          <a:solidFill>
            <a:srgbClr val="8C7060"/>
          </a:solidFill>
          <a:ln w="12700">
            <a:solidFill>
              <a:srgbClr val="8C7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554480"/>
            <a:ext cx="1920240" cy="2103120"/>
          </a:xfrm>
          <a:prstGeom prst="rect">
            <a:avLst/>
          </a:prstGeom>
          <a:solidFill>
            <a:srgbClr val="1A0F0A"/>
          </a:solidFill>
          <a:ln w="12700">
            <a:solidFill>
              <a:srgbClr val="C9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03720" y="1554480"/>
            <a:ext cx="1920240" cy="64008"/>
          </a:xfrm>
          <a:prstGeom prst="rect">
            <a:avLst/>
          </a:prstGeom>
          <a:solidFill>
            <a:srgbClr val="C9E4F0"/>
          </a:solidFill>
          <a:ln w="12700">
            <a:solidFill>
              <a:srgbClr val="C9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6642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9516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LP反映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95160" y="24231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数分で本番に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反映完了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1A0F0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931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職人bot × 3キャラクター — 源さん（老職人）　サクラさん（弟子・フェルン型）　コタ（見習いカワウソ）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42519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関係性レベル（Lv1〜5）が蓄積され、長く使うほど愛着が生まれる設計。解約を防ぎLTVを最大化する。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ビジネスモデル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初期＋月額サブスクの二層構造。粗利率90%超。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2011680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新規構築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¥150,000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1828800" cy="27432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17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ヒアリング〜LP公開まで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独自ドメイン設定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LINE連携設定込み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3258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325880"/>
            <a:ext cx="2011680" cy="50292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乗り換え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1965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¥200,000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42032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初期費用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2032" y="2880360"/>
            <a:ext cx="1828800" cy="27432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3017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既存サイト解析・再現込み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他社制作会社からの移行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コンテンツ引き継ぎ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26864" y="13258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26864" y="1325880"/>
            <a:ext cx="2011680" cy="50292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標準保守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18304" y="1965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¥10,000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18304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18304" y="2880360"/>
            <a:ext cx="1828800" cy="27432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3017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LINEで修正し放題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即時本番反映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1年最低契約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03136" y="132588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03136" y="1325880"/>
            <a:ext cx="201168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上位保守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94576" y="1965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¥30,000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894576" y="2578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94576" y="2880360"/>
            <a:ext cx="1828800" cy="27432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94576" y="3017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ステージング確認あり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翌営業日9:00本番公開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優先対応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契約終了時のデータ渡し：無料　／　期間中移行：¥50,000　／　他社載せ替えサポート：¥100,000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ユニットエコノミクス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1クライアントあたりの収益構造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65960" cy="2011680"/>
          </a:xfrm>
          <a:prstGeom prst="rect">
            <a:avLst/>
          </a:prstGeom>
          <a:solidFill>
            <a:srgbClr val="1A0F0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LTV（1年）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¥270,000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初期¥150K + 月額¥10K×12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65960" cy="2011680"/>
          </a:xfrm>
          <a:prstGeom prst="rect">
            <a:avLst/>
          </a:prstGeom>
          <a:solidFill>
            <a:srgbClr val="1A0F0A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554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60604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インフラ・API代のみ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1965960" cy="2011680"/>
          </a:xfrm>
          <a:prstGeom prst="rect">
            <a:avLst/>
          </a:prstGeom>
          <a:solidFill>
            <a:srgbClr val="1A0F0A"/>
          </a:solidFill>
          <a:ln w="12700">
            <a:solidFill>
              <a:srgbClr val="E87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554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¥243,000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5488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1クライアントあたり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1417320"/>
            <a:ext cx="1965960" cy="2011680"/>
          </a:xfrm>
          <a:prstGeom prst="rect">
            <a:avLst/>
          </a:prstGeom>
          <a:solidFill>
            <a:srgbClr val="1A0F0A"/>
          </a:solidFill>
          <a:ln w="12700">
            <a:solidFill>
              <a:srgbClr val="C9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5544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許容CPA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9659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¥70,000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90372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粗利の30%以内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11880"/>
            <a:ext cx="8412480" cy="1280160"/>
          </a:xfrm>
          <a:prstGeom prst="rect">
            <a:avLst/>
          </a:prstGeom>
          <a:solidFill>
            <a:srgbClr val="1A0F0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脱毛サロン（高粗利業態）のCPA設計と同じ構造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Meta広告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¥30,000〜40,000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目標CPA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紹介制度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¥50,000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4617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固定インセンティブ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有機（SNS）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26480" y="46177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中長期で育てる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年商シミュレーション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777240"/>
            <a:ext cx="1188720" cy="2560320"/>
          </a:xfrm>
          <a:prstGeom prst="rect">
            <a:avLst/>
          </a:prstGeom>
          <a:solidFill>
            <a:srgbClr val="E8D5B0">
              <a:alpha val="40000"/>
            </a:srgbClr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260750"/>
            <a:ext cx="1188720" cy="76810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91327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¥1,000万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410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Ph.1〜2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〜12ヶ月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904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テスト→本格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0→60社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31720" y="777240"/>
            <a:ext cx="1188720" cy="2560320"/>
          </a:xfrm>
          <a:prstGeom prst="rect">
            <a:avLst/>
          </a:prstGeom>
          <a:solidFill>
            <a:srgbClr val="E8D5B0">
              <a:alpha val="40000"/>
            </a:srgbClr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2543861"/>
            <a:ext cx="1188720" cy="793699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40280" y="2196389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¥3,100万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40280" y="3410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Ph.3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〜18ヶ月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240280" y="3904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1セット完成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120社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23360" y="777240"/>
            <a:ext cx="1188720" cy="2560320"/>
          </a:xfrm>
          <a:prstGeom prst="rect">
            <a:avLst/>
          </a:prstGeom>
          <a:solidFill>
            <a:srgbClr val="E8D5B0">
              <a:alpha val="40000"/>
            </a:srgbClr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23360" y="1673352"/>
            <a:ext cx="1188720" cy="16642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0" y="1325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¥6,500万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3410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〜30ヶ月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31920" y="3904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2セット完成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240社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715000" y="777240"/>
            <a:ext cx="1188720" cy="2560320"/>
          </a:xfrm>
          <a:prstGeom prst="rect">
            <a:avLst/>
          </a:prstGeom>
          <a:solidFill>
            <a:srgbClr val="E8D5B0">
              <a:alpha val="40000"/>
            </a:srgbClr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879653"/>
            <a:ext cx="1188720" cy="2457907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23560" y="532181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¥9,600万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3410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Ph.5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〜42ヶ月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23560" y="3904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3セット完成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360社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06640" y="777240"/>
            <a:ext cx="1188720" cy="2560320"/>
          </a:xfrm>
          <a:prstGeom prst="rect">
            <a:avLst/>
          </a:prstGeom>
          <a:solidFill>
            <a:srgbClr val="E8D5B0">
              <a:alpha val="40000"/>
            </a:srgbClr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777240"/>
            <a:ext cx="1188720" cy="256032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0" y="429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3410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48ヶ月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0" y="3904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¥5〜7億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1セット（120社・店長0.5×2人）：月収¥260万　／　3セット（360社・0.5×6人）：月収¥600〜800万　／　48ヶ月でExit ¥5〜7億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スケール戦略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何を増やせばいくら年商が上がるか。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011680" cy="64008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0.5×2人を1セット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" y="2377440"/>
            <a:ext cx="1792224" cy="457200"/>
          </a:xfrm>
          <a:prstGeom prst="rect">
            <a:avLst/>
          </a:prstGeom>
          <a:solidFill>
            <a:srgbClr val="3D2B1F">
              <a:alpha val="85000"/>
            </a:srgbClr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" y="23774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120社・月収¥260万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9768" y="29260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フリーランス業務委託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週20時間・月¥250K×2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リスク分散・属人化防止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68880" y="13258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68880" y="1325880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5087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7860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上位プラン比率UP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578608" y="2377440"/>
            <a:ext cx="1792224" cy="457200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596896" y="23774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+¥2,400,000 / 年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578608" y="29260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10社が標準→上位に移行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+¥200,000/月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追加コストほぼゼロ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617720" y="13258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17720" y="1325880"/>
            <a:ext cx="2011680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5087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744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3セット展開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27448" y="2377440"/>
            <a:ext cx="1792224" cy="457200"/>
          </a:xfrm>
          <a:prstGeom prst="rect">
            <a:avLst/>
          </a:prstGeom>
          <a:solidFill>
            <a:srgbClr val="4A7C59">
              <a:alpha val="85000"/>
            </a:srgbClr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45736" y="23774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360社・月収¥600〜800万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727448" y="29260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セット×3で年商1億超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Jasの稼働は変わらない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週次MTGが3本になるだけ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766560" y="132588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766560" y="1325880"/>
            <a:ext cx="2011680" cy="6400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50876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7628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Exit ¥5〜7億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876288" y="2377440"/>
            <a:ext cx="1792224" cy="457200"/>
          </a:xfrm>
          <a:prstGeom prst="rect">
            <a:avLst/>
          </a:prstGeom>
          <a:solidFill>
            <a:srgbClr val="E8735A">
              <a:alpha val="85000"/>
            </a:srgbClr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894576" y="23774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EBITDA×7〜10倍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876288" y="29260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48ヶ月で360社達成後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Web制作会社・DX支援へ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Transbi / M&amp;A Batonz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運営体制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「店長0.5×2人/セット ＋ AI」で回す。完全フルリモート。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840480" cy="3383280"/>
          </a:xfrm>
          <a:prstGeom prst="rect">
            <a:avLst/>
          </a:prstGeom>
          <a:solidFill>
            <a:srgbClr val="1A0F0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月次コスト試算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店長（0.5×2人/セット）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¥500,000 / セット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331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¥20,000〜40,000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API（従量）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0" y="2743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¥10,000〜30,000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1546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LINE公式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0" y="31546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〜¥数千円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3566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広告費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0" y="35661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¥30,000〜200,000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922776"/>
            <a:ext cx="3566160" cy="411480"/>
          </a:xfrm>
          <a:prstGeom prst="rect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776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合計（1セット）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86000" y="39776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¥560,000〜770,000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1371600"/>
            <a:ext cx="4206240" cy="3383280"/>
          </a:xfrm>
          <a:prstGeom prst="rect">
            <a:avLst/>
          </a:prstGeom>
          <a:solidFill>
            <a:srgbClr val="1A0F0A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損益分岐シミュレーション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874520"/>
            <a:ext cx="64008" cy="59436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892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〜32社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167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〜¥320,000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40880" y="1984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損益分岐前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532888"/>
            <a:ext cx="64008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5511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60社（12月）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8254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¥900,000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40880" y="26426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月収¥100万達成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191256"/>
            <a:ext cx="64008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095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120社（1セット）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4838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¥2,000,000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0" y="33009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月収¥260万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3849624"/>
            <a:ext cx="64008" cy="594360"/>
          </a:xfrm>
          <a:prstGeom prst="rect">
            <a:avLst/>
          </a:prstGeom>
          <a:solidFill>
            <a:srgbClr val="C9E4F0"/>
          </a:solidFill>
          <a:ln w="12700">
            <a:solidFill>
              <a:srgbClr val="C9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867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360社（3セット）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4142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¥6,000,000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40880" y="3959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月収¥600〜800万 → Exit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競合優位性 ／ 先行者利益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今が獲りに行くタイミング。この構造を真似るのには時間がかかる。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011680" cy="411480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0" y="1325880"/>
            <a:ext cx="1645920" cy="411480"/>
          </a:xfrm>
          <a:prstGeom prst="rect">
            <a:avLst/>
          </a:prstGeom>
          <a:solidFill>
            <a:srgbClr val="3D2B1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3172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みんなのLP屋さん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31920" y="1325880"/>
            <a:ext cx="1645920" cy="411480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制作会社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0" y="1325880"/>
            <a:ext cx="1645920" cy="411480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CMSツール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1325880"/>
            <a:ext cx="1645920" cy="411480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フリーランス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173736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373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修正の速さ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0" y="1737360"/>
            <a:ext cx="1645920" cy="438912"/>
          </a:xfrm>
          <a:prstGeom prst="rect">
            <a:avLst/>
          </a:prstGeom>
          <a:solidFill>
            <a:srgbClr val="3D2B1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9152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数分〜当日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0" y="1737360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05072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数日〜1週間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1737360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自分でやる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223760" y="1737360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96912" y="17373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数日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176272"/>
            <a:ext cx="201168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1762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修正コスト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0" y="2176272"/>
            <a:ext cx="1645920" cy="438912"/>
          </a:xfrm>
          <a:prstGeom prst="rect">
            <a:avLst/>
          </a:prstGeom>
          <a:solidFill>
            <a:srgbClr val="3D2B1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59152" y="21762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月額定額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931920" y="2176272"/>
            <a:ext cx="164592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05072" y="21762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都度¥5,000〜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2176272"/>
            <a:ext cx="164592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50992" y="21762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ゼロ（手間あり）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23760" y="2176272"/>
            <a:ext cx="164592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21762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都度¥3,000〜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615184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61518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操作スキル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0" y="2615184"/>
            <a:ext cx="1645920" cy="438912"/>
          </a:xfrm>
          <a:prstGeom prst="rect">
            <a:avLst/>
          </a:prstGeom>
          <a:solidFill>
            <a:srgbClr val="3D2B1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59152" y="26151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不要（LINE）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31920" y="2615184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05072" y="26151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77840" y="2615184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50992" y="26151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23760" y="2615184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261518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不要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054096"/>
            <a:ext cx="201168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05409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記憶・学習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0" y="3054096"/>
            <a:ext cx="1645920" cy="438912"/>
          </a:xfrm>
          <a:prstGeom prst="rect">
            <a:avLst/>
          </a:prstGeom>
          <a:solidFill>
            <a:srgbClr val="3D2B1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59152" y="30540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蓄積される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931920" y="3054096"/>
            <a:ext cx="164592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05072" y="30540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77840" y="3054096"/>
            <a:ext cx="164592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30540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223760" y="3054096"/>
            <a:ext cx="164592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96912" y="305409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属人的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3493008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4930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愛着・継続性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286000" y="3493008"/>
            <a:ext cx="1645920" cy="438912"/>
          </a:xfrm>
          <a:prstGeom prst="rect">
            <a:avLst/>
          </a:prstGeom>
          <a:solidFill>
            <a:srgbClr val="3D2B1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359152" y="3493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キャラLv制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931920" y="3493008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05072" y="3493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577840" y="3493008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50992" y="3493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なし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223760" y="3493008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6912" y="34930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あり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3931920"/>
            <a:ext cx="201168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39319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粗利率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286000" y="3931920"/>
            <a:ext cx="1645920" cy="438912"/>
          </a:xfrm>
          <a:prstGeom prst="rect">
            <a:avLst/>
          </a:prstGeom>
          <a:solidFill>
            <a:srgbClr val="3D2B1F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59152" y="3931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931920" y="3931920"/>
            <a:ext cx="164592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05072" y="3931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30〜50%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577840" y="3931920"/>
            <a:ext cx="164592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50992" y="3931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223760" y="3931920"/>
            <a:ext cx="1645920" cy="438912"/>
          </a:xfrm>
          <a:prstGeom prst="rect">
            <a:avLst/>
          </a:prstGeom>
          <a:solidFill>
            <a:srgbClr val="F5F0E8"/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96912" y="3931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60〜70%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memory.mdによるクライアント記憶の蓄積と職人botのLv制は、他が即座に真似できない実質的な参入障壁。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SWOT分析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4160520" cy="38404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　Strengths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1243584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070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粗利率90%超・インフラとAPI代だけ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" y="1536192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4996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AIがメンタルコストを吸収する設計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1828800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7922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職人bot Lv制で長期継続を内包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121408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0848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GitHubにデータ全量→大事故にならない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2414016"/>
            <a:ext cx="109728" cy="10972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377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memory.mdの蓄積は時間資産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749808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7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749808"/>
            <a:ext cx="4160520" cy="38404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7498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　Weaknesses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28032" y="1243584"/>
            <a:ext cx="109728" cy="10972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2070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ソロ上限 年商¥1,400万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1536192"/>
            <a:ext cx="109728" cy="10972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0912" y="14996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LP品質ばらつきリスク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1828800"/>
            <a:ext cx="109728" cy="10972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17922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LINE・Claude・Vercelの外部依存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2121408"/>
            <a:ext cx="109728" cy="109728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0848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認知ゼロからのスタート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07792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907792"/>
            <a:ext cx="4160520" cy="384048"/>
          </a:xfrm>
          <a:prstGeom prst="rect">
            <a:avLst/>
          </a:prstGeom>
          <a:solidFill>
            <a:srgbClr val="C9E4F0"/>
          </a:solidFill>
          <a:ln w="12700">
            <a:solidFill>
              <a:srgbClr val="C9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077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　Opportunities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401568"/>
            <a:ext cx="109728" cy="109728"/>
          </a:xfrm>
          <a:prstGeom prst="rect">
            <a:avLst/>
          </a:prstGeom>
          <a:solidFill>
            <a:srgbClr val="C9E4F0"/>
          </a:solidFill>
          <a:ln w="12700">
            <a:solidFill>
              <a:srgbClr val="C9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3649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LP品質保証SaaS化→1人¥1億の道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" y="3694176"/>
            <a:ext cx="109728" cy="109728"/>
          </a:xfrm>
          <a:prstGeom prst="rect">
            <a:avLst/>
          </a:prstGeom>
          <a:solidFill>
            <a:srgbClr val="C9E4F0"/>
          </a:solidFill>
          <a:ln w="12700">
            <a:solidFill>
              <a:srgbClr val="C9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657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インバウンド・多言語市場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" y="3986784"/>
            <a:ext cx="109728" cy="109728"/>
          </a:xfrm>
          <a:prstGeom prst="rect">
            <a:avLst/>
          </a:prstGeom>
          <a:solidFill>
            <a:srgbClr val="C9E4F0"/>
          </a:solidFill>
          <a:ln w="12700">
            <a:solidFill>
              <a:srgbClr val="C9E4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9502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競合本格参入までの時間窓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" y="4279392"/>
            <a:ext cx="109728" cy="109728"/>
          </a:xfrm>
          <a:prstGeom prst="rect">
            <a:avLst/>
          </a:prstGeom>
          <a:solidFill>
            <a:srgbClr val="C9E4F0"/>
          </a:solidFill>
          <a:ln w="12700">
            <a:solidFill>
              <a:srgbClr val="C9E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2428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AI進化でコスト逓減→粗利率UP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907792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907792"/>
            <a:ext cx="416052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9077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　Threats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28032" y="3401568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33649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API仕様変更・障害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28032" y="3694176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36576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後発の構造コピー参入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28032" y="3986784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395020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API値上がり・モデル変更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28032" y="4279392"/>
            <a:ext cx="109728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10912" y="424281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プラットフォームリスク全般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09b  設計上の本質的な安全性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通信が止まっても、大事故にならない。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3474720"/>
          </a:xfrm>
          <a:prstGeom prst="rect">
            <a:avLst/>
          </a:prstGeom>
          <a:solidFill>
            <a:srgbClr val="1A0F0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44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障害時に何が止まるか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3749040" cy="420624"/>
          </a:xfrm>
          <a:prstGeom prst="rect">
            <a:avLst/>
          </a:prstGeom>
          <a:solidFill>
            <a:srgbClr val="4A7C59">
              <a:alpha val="20000"/>
            </a:srgbClr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56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クライアントのLP本体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956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止まらない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47872" y="19568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Vercelでホスト済み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414016"/>
            <a:ext cx="3749040" cy="420624"/>
          </a:xfrm>
          <a:prstGeom prst="rect">
            <a:avLst/>
          </a:prstGeom>
          <a:solidFill>
            <a:srgbClr val="4A7C59">
              <a:alpha val="20000"/>
            </a:srgbClr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68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全修正履歴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3172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止まらない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47872" y="2468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GitHubに全量保存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749040" cy="420624"/>
          </a:xfrm>
          <a:prstGeom prst="rect">
            <a:avLst/>
          </a:prstGeom>
          <a:solidFill>
            <a:srgbClr val="4A7C59">
              <a:alpha val="20000"/>
            </a:srgbClr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80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memory.md（記憶）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31720" y="298094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止まらない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47872" y="29809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GitHubに全量保存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438144"/>
            <a:ext cx="3749040" cy="420624"/>
          </a:xfrm>
          <a:prstGeom prst="rect">
            <a:avLst/>
          </a:prstGeom>
          <a:solidFill>
            <a:srgbClr val="E8735A">
              <a:alpha val="20000"/>
            </a:srgbClr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930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LINEでの修正受付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3493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一時停止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47872" y="34930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窓口のみ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3950208"/>
            <a:ext cx="3749040" cy="420624"/>
          </a:xfrm>
          <a:prstGeom prst="rect">
            <a:avLst/>
          </a:prstGeom>
          <a:solidFill>
            <a:srgbClr val="E8735A">
              <a:alpha val="20000"/>
            </a:srgbClr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05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AIによる自動修正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4005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一時停止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47872" y="400507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窓口のみ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1325880"/>
            <a:ext cx="4114800" cy="1783080"/>
          </a:xfrm>
          <a:prstGeom prst="rect">
            <a:avLst/>
          </a:prstGeom>
          <a:solidFill>
            <a:srgbClr val="1A0F0A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444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他社と比べた安全性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1901952"/>
            <a:ext cx="64008" cy="329184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929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制作会社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1929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会社倒産でサイトごと消える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377440"/>
            <a:ext cx="64008" cy="329184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4048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CMSツール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404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サービス終了でデータ消失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852928"/>
            <a:ext cx="64008" cy="32918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みんなのLP屋さん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2880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GitHubにコードが全量ある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246120"/>
            <a:ext cx="4114800" cy="1554480"/>
          </a:xfrm>
          <a:prstGeom prst="rect">
            <a:avLst/>
          </a:prstGeom>
          <a:solidFill>
            <a:srgbClr val="1A0F0A"/>
          </a:solidFill>
          <a:ln w="12700">
            <a:solidFill>
              <a:srgbClr val="C9E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障害時のクライアント対応文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3703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現在、修正依頼の受付が一時的に停止しています。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お客様のサイト自体は問題なく動作しています。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復旧次第、順次対応いたします。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調達資金の用途 ／ ロードマップ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4114800"/>
          </a:xfrm>
          <a:prstGeom prst="rect">
            <a:avLst/>
          </a:prstGeom>
          <a:solidFill>
            <a:srgbClr val="1A0F0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32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調達資金の用途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20040" cy="32004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173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Meta広告費（3〜6ヶ月分）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566160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320040" cy="3200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システム開発・Claude 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2011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20040" cy="320040"/>
          </a:xfrm>
          <a:prstGeom prst="rect">
            <a:avLst/>
          </a:prstGeom>
          <a:solidFill>
            <a:srgbClr val="C9E4F0"/>
          </a:solidFill>
          <a:ln w="12700">
            <a:solidFill>
              <a:srgbClr val="C9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606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LP制作・ブランディング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66160" y="2606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店長採用・オンボーディング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20040" cy="320040"/>
          </a:xfrm>
          <a:prstGeom prst="rect">
            <a:avLst/>
          </a:prstGeom>
          <a:solidFill>
            <a:srgbClr val="8C7060"/>
          </a:solidFill>
          <a:ln w="12700">
            <a:solidFill>
              <a:srgbClr val="8C7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予備費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66160" y="37947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822960"/>
            <a:ext cx="4023360" cy="4114800"/>
          </a:xfrm>
          <a:prstGeom prst="rect">
            <a:avLst/>
          </a:prstGeom>
          <a:solidFill>
            <a:srgbClr val="1A0F0A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932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ロードマップ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417320"/>
            <a:ext cx="64008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435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0〜3ヶ月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0" y="16733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構築フェーズ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14356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システム構築・LP公開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初期5社獲得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194560"/>
            <a:ext cx="64008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212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3〜9ヶ月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2450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成長フェーズ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22128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Meta広告・紹介制度稼働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20〜30社達成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971800"/>
            <a:ext cx="64008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990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9〜12ヶ月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0" y="3227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安定フェーズ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29900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ドキュメント整備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ソロ上限50社へ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3749040"/>
            <a:ext cx="64008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767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12〜18ヶ月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0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Exit準備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3767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Tranbi・M&amp;A出稿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MRR×12〜24倍で譲渡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Exit戦略 ／ 事業譲渡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先行者利益を最大化し、MRRが積み上がったところで譲渡。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743200" cy="5029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258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¥500,000　50社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93852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推定譲渡額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226771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¥6,000,000〜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" y="272491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¥12,000,000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" y="321868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× 12〜24倍（相場）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354787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Tranbi・M&amp;A Batonz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または Web制作会社への直接アプローチ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325880"/>
            <a:ext cx="274320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3258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¥1,000,000　80社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193852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推定譲渡額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226771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¥12,000,000〜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55848" y="272491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¥24,000,000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55848" y="321868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× 12〜24倍（相場）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354787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Tranbi・M&amp;A Batonz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または Web制作会社への直接アプローチ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132588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7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3258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¥2,000,000　150社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1938528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推定譲渡額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226771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¥24,000,000〜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236208" y="272491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¥48,000,000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36208" y="3218688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× 12〜24倍（相場）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36208" y="3547872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Tranbi・M&amp;A Batonz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または Web制作会社への直接アプローチ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4074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実質的な障壁：クライアントの慣性・memory.mdの蓄積・先行ブランド認知 → 買い手に「すぐ回せる」安心感を提供できる。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2286000"/>
            <a:ext cx="5486400" cy="5486400"/>
          </a:xfrm>
          <a:prstGeom prst="ellipse">
            <a:avLst/>
          </a:prstGeom>
          <a:solidFill>
            <a:srgbClr val="F5A623">
              <a:alpha val="7000"/>
            </a:srgbClr>
          </a:solidFill>
          <a:ln w="12700">
            <a:solidFill>
              <a:srgbClr val="F5A623">
                <a:alpha val="7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「小さな職人が、ちゃんと直します。」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みんなのLP屋さんは、LP修正という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「誰もが困っているのに誰も解決していない」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領域に、AIと職人の人格で切り込む事業です。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4114800" cy="36576"/>
          </a:xfrm>
          <a:prstGeom prst="rect">
            <a:avLst/>
          </a:prstGeom>
          <a:solidFill>
            <a:srgbClr val="8C7060"/>
          </a:solidFill>
          <a:ln w="12700">
            <a:solidFill>
              <a:srgbClr val="8C7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0156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先行者利益を最大化し、MRRを積み上げ、然るべきタイミングで高値で譲渡する。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シンプルで、再現性が高く、リスクが低い。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市場規模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日本のスモールビジネス × LP保有市場は¥3,400億規模。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960120"/>
          </a:xfrm>
          <a:prstGeom prst="rect">
            <a:avLst/>
          </a:prstGeom>
          <a:solidFill>
            <a:srgbClr val="E8D5B0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17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全体市場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¥3,420億/年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80560" y="14356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LP保有の個人事業主・小規模法人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推定285万事業者 × ¥10,000/月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8412480" cy="96012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560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2944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アドレス可能市場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0" y="2606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¥342億/年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80560" y="25786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LINE活用 + 既存LP保有 + デジタルリテラシーあり層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TAMの約10%：28.5万事業者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8412480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703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4087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3年で獲れる市場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0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¥1.5億/年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80560" y="37216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SAMの0.3%：約850事業者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月12件新規 × 3年積み上げ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市場の1%でMRR¥28億。その0.003%=SOMでも十分成立するビジネス規模。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D2B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多言語 / インバウンド対応オプション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言語1つ追加するだけで、インバウンド顧客を取りこぼさない。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2468880"/>
          </a:xfrm>
          <a:prstGeom prst="rect">
            <a:avLst/>
          </a:prstGeom>
          <a:solidFill>
            <a:srgbClr val="1A0F0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447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含まれるもの（1言語あたり）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01168" cy="2011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8562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LP全テキストの多言語対応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01168" cy="2011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2677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CTAリンク先の言語別変更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201168" cy="2011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通貨：日本円 + 現地通貨の併記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201168" cy="20116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LINEでの修正依頼にも対応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2011680" cy="1325880"/>
          </a:xfrm>
          <a:prstGeom prst="rect">
            <a:avLst/>
          </a:prstGeom>
          <a:solidFill>
            <a:srgbClr val="1A0F0A"/>
          </a:solidFill>
          <a:ln w="12700">
            <a:solidFill>
              <a:srgbClr val="E873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25880"/>
            <a:ext cx="2011680" cy="54864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初期追加費用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+¥50,000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1言語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404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ページ翻訳・設定・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動作確認込み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03720" y="1325880"/>
            <a:ext cx="2011680" cy="1325880"/>
          </a:xfrm>
          <a:prstGeom prst="rect">
            <a:avLst/>
          </a:prstGeom>
          <a:solidFill>
            <a:srgbClr val="1A0F0A"/>
          </a:solidFill>
          <a:ln w="12700">
            <a:solidFill>
              <a:srgbClr val="4A7C5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325880"/>
            <a:ext cx="2011680" cy="5486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月額（標準保守）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+¥5,000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9516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 / 1言語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95160" y="2404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LINE修正対応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即時本番反映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2834640"/>
            <a:ext cx="2011680" cy="1325880"/>
          </a:xfrm>
          <a:prstGeom prst="rect">
            <a:avLst/>
          </a:prstGeom>
          <a:solidFill>
            <a:srgbClr val="1A0F0A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834640"/>
            <a:ext cx="20116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月額（上位保守）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+¥10,000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54880" y="3657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月 / 1言語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ステージング確認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C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翌営業日9:00公開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931920"/>
            <a:ext cx="8412480" cy="896112"/>
          </a:xfrm>
          <a:prstGeom prst="rect">
            <a:avLst/>
          </a:prstGeom>
          <a:solidFill>
            <a:srgbClr val="1A0F0A"/>
          </a:solidFill>
          <a:ln w="12700">
            <a:solidFill>
              <a:srgbClr val="C9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多言語1言語追加時のLTV（1年）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431596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標準+1言語：¥150K + ¥60K（初期） + (¥10K+¥5K)×12 = ¥390,000 / 年　　上位+1言語：¥150K + ¥60K + (¥30K+¥10K)×12 = ¥690,000 / 年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¥5〜7億 Exit — 必要な状態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3セット（360社・店長0.5×6人）でEBITDA×7〜10倍。48ヶ月で達成。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4023360" cy="457200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月次P&amp;L（Exit時点）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標準保守 240社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+¥2,400,000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上位保守 120社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+¥3,600,000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414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多言語add-on 60社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2414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+¥360,000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新規初期 30件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3464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+¥4,500,000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035808"/>
            <a:ext cx="3877056" cy="329184"/>
          </a:xfrm>
          <a:prstGeom prst="rect">
            <a:avLst/>
          </a:prstGeom>
          <a:solidFill>
            <a:srgbClr val="E8D5B0">
              <a:alpha val="60000"/>
            </a:srgbClr>
          </a:solidFill>
          <a:ln w="12700">
            <a:solidFill>
              <a:srgbClr val="E8D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売上合計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3072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¥10,860,000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店長0.5×6人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−¥1,500,000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インフラ・API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−¥400,000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0599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広告費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4059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−¥600,000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" y="4352544"/>
            <a:ext cx="3877056" cy="329184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月次EBITDA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¥8,360,000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298448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298448"/>
            <a:ext cx="4114800" cy="457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2984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Exit試算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0600" y="18653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年間EBITDA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18653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¥100,320,000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× 10倍（上位）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0" y="2176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¥1,003,200,000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× 7倍（標準）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2487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¥702,240,000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761488"/>
            <a:ext cx="3931920" cy="329184"/>
          </a:xfrm>
          <a:prstGeom prst="rect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7980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× 4.5倍（保守）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0" y="27980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¥451,440,000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090672"/>
            <a:ext cx="411480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090672"/>
            <a:ext cx="4114800" cy="411480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090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¥5〜7億買い手ターゲット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00600" y="3593592"/>
            <a:ext cx="164592" cy="164592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47488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Web制作会社（中堅・売上¥5億〜）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00600" y="3895344"/>
            <a:ext cx="164592" cy="164592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47488" y="3867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DX支援・マーケ会社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00600" y="4197096"/>
            <a:ext cx="164592" cy="164592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41696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LP特化のSaaS企業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4498848"/>
            <a:ext cx="164592" cy="164592"/>
          </a:xfrm>
          <a:prstGeom prst="rect">
            <a:avLst/>
          </a:prstGeom>
          <a:solidFill>
            <a:srgbClr val="E8735A"/>
          </a:solidFill>
          <a:ln w="12700">
            <a:solidFill>
              <a:srgbClr val="E8735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47488" y="4471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個人M&amp;A（Tranbi / M&amp;A Batonz）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18ヶ月→1セット120社（¥260万/月）  →  30ヶ月→240社  →  42ヶ月→360社  →  48ヶ月→¥5〜7億 Exit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みんなのLP屋さん — 事業計画書</dc:title>
  <dc:subject>PptxGenJS Presentation</dc:subject>
  <dc:creator>PptxGenJS</dc:creator>
  <cp:lastModifiedBy>PptxGenJS</cp:lastModifiedBy>
  <cp:revision>1</cp:revision>
  <dcterms:created xsi:type="dcterms:W3CDTF">2026-03-12T01:34:44Z</dcterms:created>
  <dcterms:modified xsi:type="dcterms:W3CDTF">2026-03-12T01:34:44Z</dcterms:modified>
</cp:coreProperties>
</file>